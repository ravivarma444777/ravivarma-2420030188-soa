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1"/>
  </p:notesMasterIdLst>
  <p:sldIdLst>
    <p:sldId id="262" r:id="rId3"/>
    <p:sldId id="707" r:id="rId4"/>
    <p:sldId id="257" r:id="rId5"/>
    <p:sldId id="903" r:id="rId6"/>
    <p:sldId id="902" r:id="rId7"/>
    <p:sldId id="258" r:id="rId8"/>
    <p:sldId id="259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" qsCatId="3D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20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20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20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20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20 August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20 August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20 August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20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20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20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20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20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995612" y="2868213"/>
            <a:ext cx="6200774" cy="49244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Date&amp; Time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5256179"/>
              </p:ext>
            </p:extLst>
          </p:nvPr>
        </p:nvGraphicFramePr>
        <p:xfrm>
          <a:off x="8256277" y="4757931"/>
          <a:ext cx="3691596" cy="391898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91596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195949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Name pushpak-2420030107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           sravanth-2420030079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           </a:t>
                      </a:r>
                      <a:r>
                        <a:rPr lang="en-IN" sz="1600" b="1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ravi</a:t>
                      </a:r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 varma-242003018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  <a:tr h="195949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77888758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8804564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Dr.Neelima</a:t>
                      </a:r>
                      <a:endParaRPr lang="en-US" sz="1400" b="1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XXXXXX 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b="1" dirty="0"/>
              <a:t>Date</a:t>
            </a:r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SOA Project Review-1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810857"/>
            <a:ext cx="107156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Secure User Registration and Login System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SOA Project Review-1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AE64B-DFA9-4528-D74E-DAEA88C0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22DE7-17C6-1B7E-71C0-2347B0AA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8200" y="1341120"/>
            <a:ext cx="10515600" cy="3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700">
                <a:solidFill>
                  <a:srgbClr val="222222"/>
                </a:solidFill>
              </a:rPr>
              <a:t>Traditional registration and login modules often store passwords in plain text or with weak, unsalted hashes, exposing accounts whenever a database is breached.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700">
                <a:solidFill>
                  <a:srgbClr val="222222"/>
                </a:solidFill>
              </a:rPr>
              <a:t>Absence of multi-factor verification lets attackers reuse leaked or guessed credentials to take over accounts (credential stuffing).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700">
                <a:solidFill>
                  <a:srgbClr val="222222"/>
                </a:solidFill>
              </a:rPr>
              <a:t>Weak or missing rate-limiting leaves systems open to brute-force login attempts and automated bot attacks.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700">
                <a:solidFill>
                  <a:srgbClr val="222222"/>
                </a:solidFill>
              </a:rPr>
              <a:t>Poor input validation and session handling expose applications to SQL injection, cross-site scripting (XSS), and session hijacking.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700">
                <a:solidFill>
                  <a:srgbClr val="222222"/>
                </a:solidFill>
              </a:rPr>
              <a:t>Users continue to choose weak, reused passwords, so authentication strength depends heavily on server-side safeguards.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4650000"/>
            <a:ext cx="105156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1">
                <a:solidFill>
                  <a:srgbClr val="1F4E79"/>
                </a:solidFill>
              </a:rPr>
              <a:t>There is a clear need for a registration and login system that combines strong password hashing, OTP-based multi-factor verification, and secure session management to protect user identity and data against evolving cyber threats.</a:t>
            </a: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8200" y="1341120"/>
            <a:ext cx="10515600" cy="5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700">
                <a:solidFill>
                  <a:srgbClr val="222222"/>
                </a:solidFill>
              </a:rPr>
              <a:t>Design a registration and login module with robust input validation and duplicate-account prevention.</a:t>
            </a:r>
          </a:p>
          <a:p>
            <a:pPr marL="228600" indent="-2286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700">
                <a:solidFill>
                  <a:srgbClr val="222222"/>
                </a:solidFill>
              </a:rPr>
              <a:t>Implement secure password storage using salted bcrypt/Argon2 hashing so raw passwords are never stored.</a:t>
            </a:r>
          </a:p>
          <a:p>
            <a:pPr marL="228600" indent="-2286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700">
                <a:solidFill>
                  <a:srgbClr val="222222"/>
                </a:solidFill>
              </a:rPr>
              <a:t>Integrate OTP-based two-factor verification (email/SMS) for account registration and login.</a:t>
            </a:r>
          </a:p>
          <a:p>
            <a:pPr marL="228600" indent="-2286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700">
                <a:solidFill>
                  <a:srgbClr val="222222"/>
                </a:solidFill>
              </a:rPr>
              <a:t>Implement secure session management using JWT / HttpOnly, Secure cookies to prevent session hijacking.</a:t>
            </a:r>
          </a:p>
          <a:p>
            <a:pPr marL="228600" indent="-2286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700">
                <a:solidFill>
                  <a:srgbClr val="222222"/>
                </a:solidFill>
              </a:rPr>
              <a:t>Add account lockout and rate-limiting to mitigate brute-force and credential-stuffing attacks.</a:t>
            </a:r>
          </a:p>
          <a:p>
            <a:pPr marL="228600" indent="-2286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700">
                <a:solidFill>
                  <a:srgbClr val="222222"/>
                </a:solidFill>
              </a:rPr>
              <a:t>Protect against common web vulnerabilities: SQL injection, XSS, and CSRF.</a:t>
            </a:r>
          </a:p>
          <a:p>
            <a:pPr marL="228600" indent="-2286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700">
                <a:solidFill>
                  <a:srgbClr val="222222"/>
                </a:solidFill>
              </a:rPr>
              <a:t>Evaluate the system's security posture through penetration testing and vulnerability assessment.</a:t>
            </a: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4012633"/>
              </p:ext>
            </p:extLst>
          </p:nvPr>
        </p:nvGraphicFramePr>
        <p:xfrm>
          <a:off x="274646" y="689466"/>
          <a:ext cx="11642705" cy="510879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193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100" b="0" i="0" u="none" kern="1200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Anon. et al. [1]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b="0" i="0" u="none" strike="noStrike" kern="1200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Secure User Authentication System using Spring Boot and OTP Verification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100" b="1" i="0" kern="1200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Spring Boot backend combining BCrypt password hashing, OTP email verification, CSRF protection, and server-side session management.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100" b="0" i="0" kern="1200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Layering OTP verification on top of hashed-password checks substantially cuts unauthorised access in web applications.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100" b="0" i="0" u="none" kern="1200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Relies on a single (email) OTP delivery channel with no fallback if the mail service is delayed or unavailable.</a:t>
                      </a:r>
                      <a:endParaRPr lang="en-US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155954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1100">
                          <a:solidFill>
                            <a:srgbClr val="222222"/>
                          </a:solidFill>
                        </a:rPr>
                        <a:t>Maheshwari, R. [2]</a:t>
                      </a:r>
                      <a:endParaRPr lang="en-IN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Bcrypt, HMAC-SHA256 and OTP Security: A Layered Authentication Approach</a:t>
                      </a:r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sz="1100">
                          <a:solidFill>
                            <a:srgbClr val="222222"/>
                          </a:solidFill>
                        </a:rPr>
                        <a:t>Salted bcrypt hashing for passwords; HMAC-SHA256-derived OTPs generated from a nonce and expiry, checked with timing-safe comparison.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sz="1100">
                          <a:solidFill>
                            <a:srgbClr val="222222"/>
                          </a:solidFill>
                        </a:rPr>
                        <a:t>Salting plus timing-safe comparison blocks rainbow-table and brute-force attacks while keeping OTP generation lightweight and stateless.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sz="1100">
                          <a:solidFill>
                            <a:srgbClr val="222222"/>
                          </a:solidFill>
                        </a:rPr>
                        <a:t>Does not address device-level compromise or phishing pages that capture and relay OTPs in real time.</a:t>
                      </a:r>
                      <a:endParaRPr lang="en-US" sz="1400" b="0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426370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1100">
                          <a:solidFill>
                            <a:srgbClr val="222222"/>
                          </a:solidFill>
                        </a:rPr>
                        <a:t>IJRIAS Study [3]</a:t>
                      </a:r>
                      <a:endParaRPr lang="en-IN" sz="1400" b="1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Cryptography-Based Multilayer Authentication for Web/IIoT Login Systems</a:t>
                      </a:r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sz="1100">
                          <a:solidFill>
                            <a:srgbClr val="222222"/>
                          </a:solidFill>
                        </a:rPr>
                        <a:t>Bcrypt-hashed credentials, OTP-based registration and password recovery, role-based access control, account lockout after repeated failures, validated with Kali-based penetration testing.</a:t>
                      </a:r>
                      <a:endParaRPr lang="en-US" sz="1400" b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sz="1100">
                          <a:solidFill>
                            <a:srgbClr val="222222"/>
                          </a:solidFill>
                        </a:rPr>
                        <a:t>Combining hashed credentials, lockout policies, and audit logging measurably limits brute-force and credential-compromise attempts.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sz="1100">
                          <a:solidFill>
                            <a:srgbClr val="222222"/>
                          </a:solidFill>
                        </a:rPr>
                        <a:t>Lockout duration is fixed and could itself be abused to lock out legitimate users (DoS).</a:t>
                      </a:r>
                      <a:endParaRPr lang="en-US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57501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0FDE360-66C4-26CA-5DB9-8E99C2685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F095753-622E-2BA7-9495-60F9B6E5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3048000" y="6000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Problem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8200" y="1950000"/>
            <a:ext cx="10515600" cy="3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700">
                <a:solidFill>
                  <a:srgbClr val="222222"/>
                </a:solidFill>
              </a:rPr>
              <a:t>Most academic/reference implementations apply only single-factor (password-only) authentication, leaving accounts vulnerable to leaked credentials.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700">
                <a:solidFill>
                  <a:srgbClr val="222222"/>
                </a:solidFill>
              </a:rPr>
              <a:t>Few lightweight systems combine strong hashing (bcrypt/Argon2) with OTP-based verification in one easily deployable module.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700">
                <a:solidFill>
                  <a:srgbClr val="222222"/>
                </a:solidFill>
              </a:rPr>
              <a:t>Session and token handling is often an afterthought, leaving JWTs/cookies exposed to theft or replay.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700">
                <a:solidFill>
                  <a:srgbClr val="222222"/>
                </a:solidFill>
              </a:rPr>
              <a:t>Account lockout and rate-limiting are inconsistently implemented, or use fixed timers that can themselves be exploited for denial-of-service.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700">
                <a:solidFill>
                  <a:srgbClr val="222222"/>
                </a:solidFill>
              </a:rPr>
              <a:t>Little attention is paid to phishing-resistant or passwordless alternatives (e.g., passkeys) in student/academic-scale projects.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5150000"/>
            <a:ext cx="105156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1">
                <a:solidFill>
                  <a:srgbClr val="1F4E79"/>
                </a:solidFill>
              </a:rPr>
              <a:t>Gap: an integrated, lightweight registration-login system that unifies salted password hashing, OTP-based MFA, secure session handling, and adaptive rate-limiting within a single, testable architecture.</a:t>
            </a:r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8200" y="1950000"/>
            <a:ext cx="10515600" cy="5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700">
                <a:solidFill>
                  <a:srgbClr val="222222"/>
                </a:solidFill>
              </a:rPr>
              <a:t>Unified security pipeline: bcrypt/Argon2 hashing, HMAC-based OTP, and JWT session tokens combined in one modular authentication service.</a:t>
            </a:r>
          </a:p>
          <a:p>
            <a:pPr marL="228600" indent="-2286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700">
                <a:solidFill>
                  <a:srgbClr val="222222"/>
                </a:solidFill>
              </a:rPr>
              <a:t>Adaptive account lockout with progressive delay (instead of a fixed lockout window) to reduce denial-of-service exploitability.</a:t>
            </a:r>
          </a:p>
          <a:p>
            <a:pPr marL="228600" indent="-2286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700">
                <a:solidFill>
                  <a:srgbClr val="222222"/>
                </a:solidFill>
              </a:rPr>
              <a:t>Risk-aware step-up authentication: OTP is requested only for unfamiliar device/IP/behaviour patterns, keeping routine logins fast.</a:t>
            </a:r>
          </a:p>
          <a:p>
            <a:pPr marL="228600" indent="-2286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700">
                <a:solidFill>
                  <a:srgbClr val="222222"/>
                </a:solidFill>
              </a:rPr>
              <a:t>Built-in security self-testing hooks (brute-force and MITM simulation) so the module can be re-validated as it evolves.</a:t>
            </a:r>
          </a:p>
          <a:p>
            <a:pPr marL="228600" indent="-2286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700">
                <a:solidFill>
                  <a:srgbClr val="222222"/>
                </a:solidFill>
              </a:rPr>
              <a:t>Packaged as a reusable authentication API/microservice that can be dropped into other web applications.</a:t>
            </a: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2615380" y="551058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Feasibility and Project Plan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0303AA-CEE8-2513-1736-59CB3A5EF8E4}"/>
              </a:ext>
            </a:extLst>
          </p:cNvPr>
          <p:cNvSpPr txBox="1"/>
          <p:nvPr/>
        </p:nvSpPr>
        <p:spPr>
          <a:xfrm>
            <a:off x="1381398" y="1743891"/>
            <a:ext cx="10515600" cy="8382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600" b="0" dirty="0">
                <a:solidFill>
                  <a:srgbClr val="333333"/>
                </a:solidFill>
              </a:rPr>
              <a:t>The project is technically and economically feasible: every component (bcrypt/Argon2 hashing, JWT sessions, SMTP/SMS-based OTP delivery) is built on open-source, low-cost technology, and the 8-week plan below sequences design, implementation, and security testing within the review timeline.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38200" y="2895600"/>
          <a:ext cx="10515600" cy="335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Project Phase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W1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W2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W3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W4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W5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W6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W7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W8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</a:rPr>
                        <a:t>Requirement Analysis &amp; Literature Survey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18288" marB="18288" anchor="ctr"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</a:rPr>
                        <a:t>System &amp; Database Design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18288" marB="18288" anchor="ctr"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18288" marB="18288" anchor="ctr"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</a:rPr>
                        <a:t>Registration Module (Validation + Hashing)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18288" marB="18288" anchor="ctr"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18288" marB="18288" anchor="ctr"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</a:rPr>
                        <a:t>Login Module + OTP Integration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18288" marB="18288" anchor="ctr"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18288" marB="18288" anchor="ctr"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</a:rPr>
                        <a:t>Session Mgmt &amp; Security Hardening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18288" marB="18288" anchor="ctr"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18288" marB="18288" anchor="ctr"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</a:rPr>
                        <a:t>Testing &amp; Penetration Testing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18288" marB="18288" anchor="ctr"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18288" marB="18288" anchor="ctr"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</a:rPr>
                        <a:t>Documentation &amp; Final Review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18288" marB="18288" anchor="ctr"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884</Words>
  <Application>Microsoft Office PowerPoint</Application>
  <PresentationFormat>Widescreen</PresentationFormat>
  <Paragraphs>110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SRAVANTH PARUPALLI</cp:lastModifiedBy>
  <cp:revision>34</cp:revision>
  <dcterms:created xsi:type="dcterms:W3CDTF">2026-08-08T06:33:56Z</dcterms:created>
  <dcterms:modified xsi:type="dcterms:W3CDTF">2026-08-20T03:15:24Z</dcterms:modified>
</cp:coreProperties>
</file>